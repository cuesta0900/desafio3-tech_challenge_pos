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Cargos mais frequentes (2023–2025, base consolidada)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Desenvolvedor/ Engenheiro de Software/ Analista de Sistemas</c:v>
                </c:pt>
                <c:pt idx="1">
                  <c:v>Analytics Engineer</c:v>
                </c:pt>
                <c:pt idx="2">
                  <c:v>Analista de Negócios/Business Analyst</c:v>
                </c:pt>
                <c:pt idx="3">
                  <c:v>Outra Opção</c:v>
                </c:pt>
                <c:pt idx="4">
                  <c:v>Analista de BI/BI Analyst</c:v>
                </c:pt>
                <c:pt idx="5">
                  <c:v>Engenheiro de Dados/Data Engineer/Data Architect</c:v>
                </c:pt>
                <c:pt idx="6">
                  <c:v>Cientista de Dados/Data Scientist</c:v>
                </c:pt>
                <c:pt idx="7">
                  <c:v>Analista de Dados/Data Analyst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333</c:v>
                </c:pt>
                <c:pt idx="1">
                  <c:v>502</c:v>
                </c:pt>
                <c:pt idx="2">
                  <c:v>520</c:v>
                </c:pt>
                <c:pt idx="3">
                  <c:v>722</c:v>
                </c:pt>
                <c:pt idx="4">
                  <c:v>1117</c:v>
                </c:pt>
                <c:pt idx="5">
                  <c:v>1699</c:v>
                </c:pt>
                <c:pt idx="6">
                  <c:v>1798</c:v>
                </c:pt>
                <c:pt idx="7">
                  <c:v>2463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5293</c:v>
                </c:pt>
                <c:pt idx="1">
                  <c:v>5217</c:v>
                </c:pt>
                <c:pt idx="2">
                  <c:v>3495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Distribuição por senioridade — edição 2025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Senioridade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0F8B8D"/>
              </a:solidFill>
              <a:effectLst/>
            </c:spPr>
          </c:dPt>
          <c:dPt>
            <c:idx val="2"/>
            <c:bubble3D val="0"/>
            <c:spPr>
              <a:solidFill>
                <a:srgbClr val="E272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Júnior</c:v>
                </c:pt>
                <c:pt idx="1">
                  <c:v>Pleno</c:v>
                </c:pt>
                <c:pt idx="2">
                  <c:v>Sênior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518</c:v>
                </c:pt>
                <c:pt idx="1">
                  <c:v>776</c:v>
                </c:pt>
                <c:pt idx="2">
                  <c:v>858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% de respondentes por gênero, por edição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75.1</c:v>
                </c:pt>
                <c:pt idx="1">
                  <c:v>76.1</c:v>
                </c:pt>
                <c:pt idx="2">
                  <c:v>77.5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Feminino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24.4</c:v>
                </c:pt>
                <c:pt idx="1">
                  <c:v>23.5</c:v>
                </c:pt>
                <c:pt idx="2">
                  <c:v>22.0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Prefiro não informar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Outros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Linguagens de programação usadas no trabalho — edição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Python</c:v>
                  </c:pt>
                  <c:pt idx="1">
                    <c:v>SQL</c:v>
                  </c:pt>
                  <c:pt idx="2">
                    <c:v>R</c:v>
                  </c:pt>
                  <c:pt idx="3">
                    <c:v>Scala</c:v>
                  </c:pt>
                  <c:pt idx="4">
                    <c:v>C/C++/C#</c:v>
                  </c:pt>
                  <c:pt idx="5">
                    <c:v>Rust</c:v>
                  </c:pt>
                  <c:pt idx="6">
                    <c:v>Julia</c:v>
                  </c:pt>
                  <c:pt idx="7">
                    <c:v>DAX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1929</c:v>
                </c:pt>
                <c:pt idx="1">
                  <c:v>1764</c:v>
                </c:pt>
                <c:pt idx="2">
                  <c:v>328</c:v>
                </c:pt>
                <c:pt idx="3">
                  <c:v>70</c:v>
                </c:pt>
                <c:pt idx="4">
                  <c:v>49</c:v>
                </c:pt>
                <c:pt idx="5">
                  <c:v>35</c:v>
                </c:pt>
                <c:pt idx="6">
                  <c:v>18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% que usa algum tipo de IA no trabalho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 algum tipo de IA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80.3</c:v>
                </c:pt>
                <c:pt idx="1">
                  <c:v>93.5</c:v>
                </c:pt>
                <c:pt idx="2">
                  <c:v>97.9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Como as pessoas usam IA, por edição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 - empresa paga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19.2</c:v>
                </c:pt>
                <c:pt idx="2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Usa - paga do bolso</c:v>
                </c:pt>
              </c:strCache>
            </c:strRef>
          </c:tx>
          <c:spPr>
            <a:solidFill>
              <a:srgbClr val="5FC4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6.7</c:v>
                </c:pt>
                <c:pt idx="1">
                  <c:v>14.4</c:v>
                </c:pt>
                <c:pt idx="2">
                  <c:v>22.4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Usa - versão gratuita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58.8</c:v>
                </c:pt>
                <c:pt idx="1">
                  <c:v>45.0</c:v>
                </c:pt>
                <c:pt idx="2">
                  <c:v>21.8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Usa - copilot/código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8.5</c:v>
                </c:pt>
                <c:pt idx="1">
                  <c:v>14.8</c:v>
                </c:pt>
                <c:pt idx="2">
                  <c:v>11.3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Não usa IA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19.7</c:v>
                </c:pt>
                <c:pt idx="1">
                  <c:v>6.5</c:v>
                </c:pt>
                <c:pt idx="2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Respondentes por região (2023–2025)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Regiao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8B8D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E2725B"/>
              </a:solidFill>
              <a:effectLst/>
            </c:spPr>
          </c:dPt>
          <c:dPt>
            <c:idx val="3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Sudeste</c:v>
                </c:pt>
                <c:pt idx="1">
                  <c:v>Sul</c:v>
                </c:pt>
                <c:pt idx="2">
                  <c:v>Nordeste</c:v>
                </c:pt>
                <c:pt idx="3">
                  <c:v>Centro-oeste</c:v>
                </c:pt>
                <c:pt idx="4">
                  <c:v>Norte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8476</c:v>
                </c:pt>
                <c:pt idx="1">
                  <c:v>2532</c:v>
                </c:pt>
                <c:pt idx="2">
                  <c:v>1504</c:v>
                </c:pt>
                <c:pt idx="3">
                  <c:v>907</c:v>
                </c:pt>
                <c:pt idx="4">
                  <c:v>195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Senioridade por região — edição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Júnior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69</c:v>
                </c:pt>
                <c:pt idx="2">
                  <c:v>7</c:v>
                </c:pt>
                <c:pt idx="3">
                  <c:v>312</c:v>
                </c:pt>
                <c:pt idx="4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Pleno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</c:v>
                </c:pt>
                <c:pt idx="1">
                  <c:v>94</c:v>
                </c:pt>
                <c:pt idx="2">
                  <c:v>10</c:v>
                </c:pt>
                <c:pt idx="3">
                  <c:v>464</c:v>
                </c:pt>
                <c:pt idx="4">
                  <c:v>135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Sênior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60</c:v>
                </c:pt>
                <c:pt idx="1">
                  <c:v>86</c:v>
                </c:pt>
                <c:pt idx="2">
                  <c:v>12</c:v>
                </c:pt>
                <c:pt idx="3">
                  <c:v>526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61520" cy="1737360"/>
          </a:xfrm>
          <a:prstGeom prst="rect">
            <a:avLst/>
          </a:prstGeom>
          <a:solidFill>
            <a:srgbClr val="0E2A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DO MERCADO BRASILEIRO DE DADOS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 mercado de Dados, Analytics e IA para orientar a estratégia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contratação, capacitação e investimento em tecnologia.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Estratégica em Dados  •  Base: Data Hackers + Bain  •  14.005 respondentes (2023–2025)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— POSTECH  |  Big Data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brutos a decisão estratégica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de grande porte planeja expandir sua área de Dados, Analytics e IA. Para embasar as decisões de contratação, capacitação e investimento em tecnologia, consolidamos as três últimas edições da pesquisa State of Data Brasil (Data Hackers + Bain) em uma base analítica única.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da pesquisa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(2023, 2024, 2025)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32918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dados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 no total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32918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brutas por edição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unificadas em schema comum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(AWS)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28600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5236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25420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→ Amazon S3 (camada Raw)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306324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319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schema via AWS Glue (Spark)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38404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unificação das 3 edições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46177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4873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de negócio por Glue/Athena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0" y="53949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52360" y="5650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SQL + DataViz executivo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em camadas na 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brutos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F8B8D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unificação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F8B8D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de negócio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37844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DataViz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42416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/ PowerBI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9339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395935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2531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9127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6" name="Shape 24"/>
          <p:cNvSpPr/>
          <p:nvPr/>
        </p:nvSpPr>
        <p:spPr>
          <a:xfrm>
            <a:off x="985723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48006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de Bronze, Silver e Gold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completo (draw.io) entregue em anexo, com IAM Roles e detalhamento de particionamento por ano_pesquisa.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e Cientista de Dados lideram o mercado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 por edição</a:t>
            </a:r>
            <a:endParaRPr lang="en-US" sz="13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8138160" y="2011680"/>
          <a:ext cx="3474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138160" y="42976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/>
        </p:spPr>
      </p:sp>
      <p:sp>
        <p:nvSpPr>
          <p:cNvPr id="8" name="Text 4"/>
          <p:cNvSpPr/>
          <p:nvPr/>
        </p:nvSpPr>
        <p:spPr>
          <a:xfrm>
            <a:off x="8321040" y="44348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 e Cientista de Dados somam 44% da base com cargo informado, seguidos por Engenharia de Dados e BI — sinal de que a demanda ainda está concentrada em análise e ciência de dados, com engenharia crescendo como especialização.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MAIS VALORIZADOS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consolidado, com maioria sênior/pleno em 2025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4592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para a Instituição Financeira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23317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Sênior é a maior fatia (39%) da base 2025 — o mercado amadureceu desde 2023, com profissionais permanecendo mais tempo na área de dados.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7920" y="33832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é a menor fatia (23%) — sinal de gargalo na formação de novos talentos, relevante para programas de trainee/estágio.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0" y="44348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mais valorizados combinam domínio técnico (SQL + Python) com cargos de Engenharia de Dados e Ciência de Dados, que sustentam as maiores faixas salariais na pesquisa.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feminina recua a cada edição da pesquisa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Prefiro não informar / Outros somam &lt;1% em todas as edições (rótulo omitido por espaço).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0" y="155448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783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5280" y="2514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participação feminina em 2025 — caiu a cada edição, de 24,4% (2023) para 23,5% (2024) e 22,0% (2025).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55280" y="36576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estratégica: programas de atração e retenção de mulheres na área de dados (trainee, mentoria, políticas de flexibilidade) tendem a ampliar o pool de talentos disponível num mercado já concorrido.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MAIS ADOTADAS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 SQL seguem como a dupla essencial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CONTRATANTE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 SQL são pré-requisitos de mercado — devem ser critério mínimo em qualquer trilha de contratação em Dados.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3520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Scala têm adoção residual — não vale priorizar treinamento nelas para o time geral.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certificações e capacitação continuada em Python/SQL avançado gera retorno mais rápido que diversificar stack.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virou ferramenta de trabalho padrão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554480"/>
          <a:ext cx="5303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7200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47091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saltou de 80% (2023) para 98% (2025). O maior salto é o custeio pela empresa (6% → 42%) — sinal de que investir em ferramentas de IA corporativas deixou de ser diferencial e virou expectativa do time de dados.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REGIONAIS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dados ainda concentrado no Sudeste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943600" y="155448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Sudeste concentra 60% dos respondentes; Norte é menos de 1,5%. Para expansão fora do eixo SP–RJ–MG, times remotos e parcerias com universidades regionais tendem a ser mais eficazes que depender apenas de contratação local.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e desafios para investir em Dados e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6479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76479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Analista e Cientista de Dados no volume, mas crie trilha específica de Engenharia de Dados — cargo em ascensão e mais escasso.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5292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72491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72491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Foque treinamento em Python e SQL avançado; invista em programas júnior/trainee para destravar o gargalo de entrada no mercado.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68503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68503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feminina vem caindo a cada edição (24% em 2023 → 22% em 2025) — políticas de atração e retenção ampliam o pool de talentos num mercado concorrido.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773168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6451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64515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já usa IA no trabalho. Definir stack corporativa oficial (paga pela empresa) reduz uso fragmentado e shadow 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733288"/>
            <a:ext cx="457200" cy="457200"/>
          </a:xfrm>
          <a:prstGeom prst="ellipse">
            <a:avLst/>
          </a:prstGeom>
          <a:solidFill>
            <a:srgbClr val="8AB17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33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60527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geográfica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560527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da base está no Sudeste. Trabalho remoto e parcerias regionais ampliam acesso a talento fora do eixo SP–RJ–MG.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 FONTES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números foram construídos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108960" y="16459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2023, 2024 e 2025–2026 — Data Hackers + Bain (Kaggle).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consolidada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08960" y="2514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14.005 respondentes, harmonizados em schema comum (gênero, cargo, senioridade, UF/região, faixa salarial, uso de IA, linguagens).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33832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em AWS Glue, camadas Bronze / Silver / Gold em Amazon S3, catalogadas no Glue Data Catalog.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 análise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42519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 (SQL) sobre a camada Gold; agregações auditáveis por ano_pesquisa.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0" y="51206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múltipla escolha (ex.: uso de IA) foram classificadas pela resposta dominante; comparações entre anos consideram apenas respondentes que informaram o campo.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DE EXECUÇÃO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rodando no AWS Academy Lab</a:t>
            </a:r>
            <a:endParaRPr lang="en-US" sz="2600" dirty="0"/>
          </a:p>
        </p:txBody>
      </p:sp>
      <p:pic>
        <p:nvPicPr>
          <p:cNvPr id="4" name="Image 0" descr="/mnt/user-data/uploads/178726310584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754880" cy="1979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2547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S3 com as 4 camadas: raw, bronze, silver e gold.</a:t>
            </a:r>
            <a:endParaRPr lang="en-US" sz="1050" dirty="0"/>
          </a:p>
        </p:txBody>
      </p:sp>
      <p:pic>
        <p:nvPicPr>
          <p:cNvPr id="6" name="Image 1" descr="/mnt/user-data/uploads/1787262270153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217920" cy="23887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0" y="4034671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PySpark (pipeline_bronze_silver_gold.py) carregado no AWS Glue Job — 277 linhas, 0 erros.</a:t>
            </a:r>
            <a:endParaRPr lang="en-US" sz="1050" dirty="0"/>
          </a:p>
        </p:txBody>
      </p:sp>
      <p:pic>
        <p:nvPicPr>
          <p:cNvPr id="8" name="Image 2" descr="/mnt/user-data/uploads/1787264332416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97680"/>
            <a:ext cx="4206240" cy="1960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6330869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(LabRole) configurada no Glue Job e no Crawler.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DE EXECUÇÃO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dados e consultas no Athena</a:t>
            </a:r>
            <a:endParaRPr lang="en-US" sz="2600" dirty="0"/>
          </a:p>
        </p:txBody>
      </p:sp>
      <p:pic>
        <p:nvPicPr>
          <p:cNvPr id="4" name="Image 0" descr="/mnt/user-data/uploads/17872655501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108960" cy="3262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082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tabelas Gold catalogadas no Glue Data Catalog (database state_of_data_gold).</a:t>
            </a:r>
            <a:endParaRPr lang="en-US" sz="1050" dirty="0"/>
          </a:p>
        </p:txBody>
      </p:sp>
      <p:pic>
        <p:nvPicPr>
          <p:cNvPr id="6" name="Image 1" descr="/mnt/user-data/uploads/1787265826638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554480"/>
            <a:ext cx="3931920" cy="18967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0480" y="3542649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— Pergunta 1: cargos mais frequentes do mercado.</a:t>
            </a:r>
            <a:endParaRPr lang="en-US" sz="1050" dirty="0"/>
          </a:p>
        </p:txBody>
      </p:sp>
      <p:pic>
        <p:nvPicPr>
          <p:cNvPr id="8" name="Image 2" descr="/mnt/user-data/uploads/1787266913639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0"/>
            <a:ext cx="3657600" cy="19383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46720" y="3584235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— Pergunta 5: adoção de IA no trabalho, por edição.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completos (pipeline PySpark + queries SQL) entregues em anexo. Base tratada disponível em silver_unificado_3edicoes.csv.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2026-08-20T23:09:47Z</dcterms:created>
  <dcterms:modified xsi:type="dcterms:W3CDTF">2026-08-20T23:09:47Z</dcterms:modified>
</cp:coreProperties>
</file>